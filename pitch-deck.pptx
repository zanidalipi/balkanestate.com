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29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669280" cy="54864"/>
          </a:xfrm>
          <a:prstGeom prst="rect">
            <a:avLst/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0"/>
            <a:ext cx="502920" cy="502920"/>
          </a:xfrm>
          <a:prstGeom prst="rect">
            <a:avLst>
              <a:gd name="adj" fmla="val 14545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7680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BalkanEstate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779776" cy="292608"/>
          </a:xfrm>
          <a:prstGeom prst="roundRect">
            <a:avLst>
              <a:gd name="adj" fmla="val 15625"/>
            </a:avLst>
          </a:prstGeom>
          <a:solidFill>
            <a:srgbClr val="FF9500">
              <a:alpha val="1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81328"/>
            <a:ext cx="2779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</a:rPr>
              <a:t>Investor Overview ·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Real Estate for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Southeast Europe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109728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295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0B4D0"/>
                </a:solidFill>
              </a:rPr>
              <a:t>One platform. 10 countries. 10 languages.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0B4D0"/>
                </a:solidFill>
              </a:rPr>
              <a:t>Buyers, sellers, and agents — all connected.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500"/>
                </a:solidFill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5047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BF"/>
                </a:solidFill>
              </a:rPr>
              <a:t>Countries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500"/>
                </a:solidFill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75688" y="5047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BF"/>
                </a:solidFill>
              </a:rPr>
              <a:t>Languages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48456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500"/>
                </a:solidFill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48456" y="5047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BF"/>
                </a:solidFill>
              </a:rPr>
              <a:t>Live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217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A8A"/>
                </a:solidFill>
              </a:rPr>
              <a:t>Zani Dalipi · zanoin@gmail.com · balkanestate.com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0"/>
            <a:ext cx="6519672" cy="68580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28600"/>
            <a:ext cx="6199632" cy="387477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0" y="0"/>
            <a:ext cx="365760" cy="6858000"/>
          </a:xfrm>
          <a:prstGeom prst="rect">
            <a:avLst/>
          </a:prstGeom>
          <a:ln w="12700">
            <a:solidFill>
              <a:srgbClr val="0A16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72184" cy="292608"/>
          </a:xfrm>
          <a:prstGeom prst="roundRect">
            <a:avLst>
              <a:gd name="adj" fmla="val 15625"/>
            </a:avLst>
          </a:prstGeom>
          <a:solidFill>
            <a:srgbClr val="0252CD">
              <a:alpha val="15000"/>
            </a:srgbClr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72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52CD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E1729"/>
                </a:solidFill>
              </a:rPr>
              <a:t>Southeast Europe's Real Estate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E1729"/>
                </a:solidFill>
              </a:rPr>
              <a:t>Market is Broken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Millions of buyers and sellers — zero unified platform. Every country has its own fragmented portals, language barriers, and trust issues.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5303520" cy="1463040"/>
          </a:xfrm>
          <a:prstGeom prst="rect">
            <a:avLst>
              <a:gd name="adj" fmla="val 7500"/>
            </a:avLst>
          </a:prstGeom>
          <a:solidFill>
            <a:srgbClr val="F8FA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834640"/>
            <a:ext cx="54864" cy="1463040"/>
          </a:xfrm>
          <a:prstGeom prst="rect">
            <a:avLst>
              <a:gd name="adj" fmla="val 66667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</a:rPr>
              <a:t>Fragmented Markets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383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10 countries, 40+ separate portals — no cross-border search exists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5303520" cy="1463040"/>
          </a:xfrm>
          <a:prstGeom prst="rect">
            <a:avLst>
              <a:gd name="adj" fmla="val 7500"/>
            </a:avLst>
          </a:prstGeom>
          <a:solidFill>
            <a:srgbClr val="F8FA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834640"/>
            <a:ext cx="54864" cy="1463040"/>
          </a:xfrm>
          <a:prstGeom prst="rect">
            <a:avLst>
              <a:gd name="adj" fmla="val 66667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29992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</a:rPr>
              <a:t>Language Barriers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3383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Listings only in local language — foreign buyers left out entirely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303520" cy="1463040"/>
          </a:xfrm>
          <a:prstGeom prst="rect">
            <a:avLst>
              <a:gd name="adj" fmla="val 7500"/>
            </a:avLst>
          </a:prstGeom>
          <a:solidFill>
            <a:srgbClr val="F8FA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526280"/>
            <a:ext cx="54864" cy="1463040"/>
          </a:xfrm>
          <a:prstGeom prst="rect">
            <a:avLst>
              <a:gd name="adj" fmla="val 66667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69087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</a:rPr>
              <a:t>No Trust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0749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Unverified agents, no reviews, no accountability — fraud is rampant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526280"/>
            <a:ext cx="5303520" cy="1463040"/>
          </a:xfrm>
          <a:prstGeom prst="rect">
            <a:avLst>
              <a:gd name="adj" fmla="val 7500"/>
            </a:avLst>
          </a:prstGeom>
          <a:solidFill>
            <a:srgbClr val="F8FA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526280"/>
            <a:ext cx="54864" cy="1463040"/>
          </a:xfrm>
          <a:prstGeom prst="rect">
            <a:avLst>
              <a:gd name="adj" fmla="val 66667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469087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</a:rPr>
              <a:t>No Digital Tools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50749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No AI valuations, no mortgage calculators, no instant messaging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89920" y="731520"/>
            <a:ext cx="1234440" cy="5852160"/>
          </a:xfrm>
          <a:prstGeom prst="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35640" y="109728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52CD"/>
                </a:solidFill>
              </a:rPr>
              <a:t>€15B+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835640" y="15819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Market TAM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83564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52CD"/>
                </a:solidFill>
              </a:rPr>
              <a:t>40M+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835640" y="331927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Households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835640" y="457200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52CD"/>
                </a:solidFill>
              </a:rPr>
              <a:t>Zero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835640" y="505663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Unified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Portal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0252CD">
              <a:alpha val="15000"/>
            </a:srgbClr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52CD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E1729"/>
                </a:solidFill>
              </a:rPr>
              <a:t>One Platform.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E1729"/>
                </a:solidFill>
              </a:rPr>
              <a:t>Every Market. Every Language.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Smart 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201168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FFF5E6"/>
          </a:solidFill>
          <a:ln w="12700">
            <a:solidFill>
              <a:srgbClr val="FF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084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Rich Listings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71800" y="201168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084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7180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AI Valuation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01168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084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0624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Live Chat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FFF5E6"/>
          </a:solidFill>
          <a:ln w="12700">
            <a:solidFill>
              <a:srgbClr val="FF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73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7307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Mortgage Calc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320040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273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37360" y="37307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PWA App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71800" y="320040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3273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971800" y="37307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10 Languages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320040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FFF5E6"/>
          </a:solidFill>
          <a:ln w="12700">
            <a:solidFill>
              <a:srgbClr val="FF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3273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206240" y="37307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9"/>
                </a:solidFill>
              </a:rPr>
              <a:t>Verified Agents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457200"/>
            <a:ext cx="6492240" cy="6126480"/>
          </a:xfrm>
          <a:prstGeom prst="rect">
            <a:avLst>
              <a:gd name="adj" fmla="val 2239"/>
            </a:avLst>
          </a:prstGeom>
          <a:solidFill>
            <a:srgbClr val="F0F4FF"/>
          </a:solidFill>
          <a:ln w="12700">
            <a:solidFill>
              <a:srgbClr val="C7D7FF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59436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29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72184" cy="292608"/>
          </a:xfrm>
          <a:prstGeom prst="roundRect">
            <a:avLst>
              <a:gd name="adj" fmla="val 15625"/>
            </a:avLst>
          </a:prstGeom>
          <a:solidFill>
            <a:srgbClr val="FF9500">
              <a:alpha val="1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72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Built. Live. Ready.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D0"/>
                </a:solidFill>
              </a:rPr>
              <a:t>Every screen you see below is the real, live platform — not a mockup.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749040" cy="2343150"/>
          </a:xfrm>
          <a:prstGeom prst="rect">
            <a:avLst>
              <a:gd name="adj" fmla="val 4683"/>
            </a:avLst>
          </a:prstGeom>
          <a:solidFill>
            <a:srgbClr val="1A2744"/>
          </a:solidFill>
          <a:ln w="12700">
            <a:solidFill>
              <a:srgbClr val="2A3C6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0"/>
            <a:ext cx="365760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446455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Homepage &amp; Search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749040" cy="2343150"/>
          </a:xfrm>
          <a:prstGeom prst="rect">
            <a:avLst>
              <a:gd name="adj" fmla="val 4683"/>
            </a:avLst>
          </a:prstGeom>
          <a:solidFill>
            <a:srgbClr val="1A2744"/>
          </a:solidFill>
          <a:ln w="12700">
            <a:solidFill>
              <a:srgbClr val="2A3C6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03120"/>
            <a:ext cx="3657600" cy="2286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446455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Directory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0" y="2011680"/>
            <a:ext cx="3749040" cy="2343150"/>
          </a:xfrm>
          <a:prstGeom prst="rect">
            <a:avLst>
              <a:gd name="adj" fmla="val 4683"/>
            </a:avLst>
          </a:prstGeom>
          <a:solidFill>
            <a:srgbClr val="1A2744"/>
          </a:solidFill>
          <a:ln w="12700">
            <a:solidFill>
              <a:srgbClr val="2A3C6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03120"/>
            <a:ext cx="3657600" cy="2286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446455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Valuation Tool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472184" cy="292608"/>
          </a:xfrm>
          <a:prstGeom prst="roundRect">
            <a:avLst>
              <a:gd name="adj" fmla="val 15625"/>
            </a:avLst>
          </a:prstGeom>
          <a:solidFill>
            <a:srgbClr val="0252CD">
              <a:alpha val="15000"/>
            </a:srgbClr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472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52CD"/>
                </a:solidFill>
              </a:rPr>
              <a:t>Market Size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0E1729"/>
                </a:solidFill>
              </a:rPr>
              <a:t>A €15B+ Opportunity —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0E1729"/>
                </a:solidFill>
              </a:rPr>
              <a:t>Untouched by Modern Tech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3474720" cy="3291840"/>
          </a:xfrm>
          <a:prstGeom prst="rect">
            <a:avLst>
              <a:gd name="adj" fmla="val 3333"/>
            </a:avLst>
          </a:prstGeom>
          <a:solidFill>
            <a:srgbClr val="0252CD">
              <a:alpha val="10000"/>
            </a:srgbClr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52CD"/>
                </a:solidFill>
              </a:rPr>
              <a:t>TAM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52CD"/>
                </a:solidFill>
              </a:rPr>
              <a:t>€15B+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Total real estate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transactions in SEE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2834640" cy="3291840"/>
          </a:xfrm>
          <a:prstGeom prst="rect">
            <a:avLst>
              <a:gd name="adj" fmla="val 3871"/>
            </a:avLst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57860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€2.5B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29768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Online-reachable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segment today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2011680"/>
            <a:ext cx="1920240" cy="3291840"/>
          </a:xfrm>
          <a:prstGeom prst="rect">
            <a:avLst>
              <a:gd name="adj" fmla="val 5714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</a:rPr>
              <a:t>SOM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257860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500"/>
                </a:solidFill>
              </a:rPr>
              <a:t>€5M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452360" y="3429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Year 1 realistic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reachable revenue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486400"/>
            <a:ext cx="11183112" cy="1005840"/>
          </a:xfrm>
          <a:prstGeom prst="rect">
            <a:avLst>
              <a:gd name="adj" fmla="val 9091"/>
            </a:avLst>
          </a:prstGeom>
          <a:solidFill>
            <a:srgbClr val="F0F4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577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52CD"/>
                </a:solidFill>
              </a:rPr>
              <a:t>⏰  Why Now: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55955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Post-COVID digital adoption surge · EU accession tailwinds (Albania, Serbia, N. Macedonia) · No dominant pan-Balkan portal exists · Mobile penetration now &gt;80% across SEE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773936" cy="292608"/>
          </a:xfrm>
          <a:prstGeom prst="roundRect">
            <a:avLst>
              <a:gd name="adj" fmla="val 15625"/>
            </a:avLst>
          </a:prstGeom>
          <a:solidFill>
            <a:srgbClr val="0252CD">
              <a:alpha val="15000"/>
            </a:srgbClr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52CD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E1729"/>
                </a:solidFill>
              </a:rPr>
              <a:t>Clear Revenue Streams.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E1729"/>
                </a:solidFill>
              </a:rPr>
              <a:t>Strong Unit Economics.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2743200" cy="3657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2743200" cy="54864"/>
          </a:xfrm>
          <a:prstGeom prst="rect">
            <a:avLst>
              <a:gd name="adj" fmla="val 33333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9"/>
                </a:solidFill>
              </a:rPr>
              <a:t>Pro Monthly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52CD"/>
                </a:solidFill>
              </a:rPr>
              <a:t>€60/mo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30 listings · Analytics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Priority support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743200" cy="3657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011680"/>
            <a:ext cx="2743200" cy="54864"/>
          </a:xfrm>
          <a:prstGeom prst="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9"/>
                </a:solidFill>
              </a:rPr>
              <a:t>Pro Yearly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6334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€400/yr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33649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400 listings · Save 44%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vs monthly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743200" cy="3657600"/>
          </a:xfrm>
          <a:prstGeom prst="rect">
            <a:avLst>
              <a:gd name="adj" fmla="val 4667"/>
            </a:avLst>
          </a:prstGeom>
          <a:solidFill>
            <a:srgbClr val="0E1729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011680"/>
            <a:ext cx="2743200" cy="54864"/>
          </a:xfrm>
          <a:prstGeom prst="rect">
            <a:avLst>
              <a:gd name="adj" fmla="val 33333"/>
            </a:avLst>
          </a:prstGeom>
          <a:solidFill>
            <a:srgbClr val="0E1729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6334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€1,500/yr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33649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1,000 listings · Agency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dashboard · API access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2011680"/>
            <a:ext cx="2743200" cy="3657600"/>
          </a:xfrm>
          <a:prstGeom prst="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011680"/>
            <a:ext cx="2743200" cy="54864"/>
          </a:xfrm>
          <a:prstGeom prst="rect">
            <a:avLst>
              <a:gd name="adj" fmla="val 33333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9"/>
                </a:solidFill>
              </a:rPr>
              <a:t>Promoted Listings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26334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500"/>
                </a:solidFill>
              </a:rPr>
              <a:t>€9.99–€229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81160" y="33649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Featured · Highlighted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Premium placement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5806440"/>
            <a:ext cx="11457432" cy="777240"/>
          </a:xfrm>
          <a:prstGeom prst="rect">
            <a:avLst>
              <a:gd name="adj" fmla="val 11765"/>
            </a:avLst>
          </a:prstGeom>
          <a:solidFill>
            <a:srgbClr val="F0F4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870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LTV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6126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52CD"/>
                </a:solidFill>
              </a:rPr>
              <a:t>€720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49040" y="5870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6126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52CD"/>
                </a:solidFill>
              </a:rPr>
              <a:t>&lt;€80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5870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Payback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6126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52CD"/>
                </a:solidFill>
              </a:rPr>
              <a:t>&lt;2 mo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2560" y="5870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52560" y="6126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52CD"/>
                </a:solidFill>
              </a:rPr>
              <a:t>&gt;85%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29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FF9500">
              <a:alpha val="1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</a:rPr>
              <a:t>Traction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We've Already Built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D0"/>
                </a:solidFill>
              </a:rPr>
              <a:t>Pre-revenue, but the hard part is done — the platform is live and fully functional.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749040" cy="1691640"/>
          </a:xfrm>
          <a:prstGeom prst="rect">
            <a:avLst>
              <a:gd name="adj" fmla="val 6486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54864" cy="1691640"/>
          </a:xfrm>
          <a:prstGeom prst="rect">
            <a:avLst>
              <a:gd name="adj" fmla="val 66667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221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Live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balkanestate.com is live and publicly accessible today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3749040" cy="1691640"/>
          </a:xfrm>
          <a:prstGeom prst="rect">
            <a:avLst>
              <a:gd name="adj" fmla="val 6486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057400"/>
            <a:ext cx="54864" cy="1691640"/>
          </a:xfrm>
          <a:prstGeom prst="rect">
            <a:avLst>
              <a:gd name="adj" fmla="val 66667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10912" y="2221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Google Gemini-powered valuations and neighborhood insights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2057400"/>
            <a:ext cx="3749040" cy="1691640"/>
          </a:xfrm>
          <a:prstGeom prst="rect">
            <a:avLst>
              <a:gd name="adj" fmla="val 6486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057400"/>
            <a:ext cx="54864" cy="1691640"/>
          </a:xfrm>
          <a:prstGeom prst="rect">
            <a:avLst>
              <a:gd name="adj" fmla="val 66667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42832" y="2221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Languages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2832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Full localization — Albanian, Serbian, Greek, Bulgarian &amp; more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3749040" cy="1691640"/>
          </a:xfrm>
          <a:prstGeom prst="rect">
            <a:avLst>
              <a:gd name="adj" fmla="val 6486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23360"/>
            <a:ext cx="54864" cy="1691640"/>
          </a:xfrm>
          <a:prstGeom prst="rect">
            <a:avLst>
              <a:gd name="adj" fmla="val 66667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4187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Real-time Messaging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5720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Socket.io live chat between buyers and agents, zero latency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4023360"/>
            <a:ext cx="3749040" cy="1691640"/>
          </a:xfrm>
          <a:prstGeom prst="rect">
            <a:avLst>
              <a:gd name="adj" fmla="val 6486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4023360"/>
            <a:ext cx="54864" cy="1691640"/>
          </a:xfrm>
          <a:prstGeom prst="rect">
            <a:avLst>
              <a:gd name="adj" fmla="val 66667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10912" y="4187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PWA / Mobile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10912" y="45720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Installable on iOS and Android — no app store needed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0" y="4023360"/>
            <a:ext cx="3749040" cy="1691640"/>
          </a:xfrm>
          <a:prstGeom prst="rect">
            <a:avLst>
              <a:gd name="adj" fmla="val 6486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023360"/>
            <a:ext cx="54864" cy="1691640"/>
          </a:xfrm>
          <a:prstGeom prst="rect">
            <a:avLst>
              <a:gd name="adj" fmla="val 66667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942832" y="4187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Payments Live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42832" y="45720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B4D0"/>
                </a:solidFill>
              </a:rPr>
              <a:t>Paysera + Stripe integrated — subscription billing ready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432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0252CD">
              <a:alpha val="15000"/>
            </a:srgbClr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52CD"/>
                </a:solidFill>
              </a:rPr>
              <a:t>The 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0E1729"/>
                </a:solidFill>
              </a:rPr>
              <a:t>Built by a Founder Who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0E1729"/>
                </a:solidFill>
              </a:rPr>
              <a:t>Knows Real Estate &amp; Tech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011680"/>
            <a:ext cx="7589520" cy="4114800"/>
          </a:xfrm>
          <a:prstGeom prst="rect">
            <a:avLst>
              <a:gd name="adj" fmla="val 3556"/>
            </a:avLst>
          </a:prstGeom>
          <a:solidFill>
            <a:srgbClr val="F8FA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286000"/>
            <a:ext cx="1645920" cy="1645920"/>
          </a:xfrm>
          <a:prstGeom prst="ellipse">
            <a:avLst/>
          </a:prstGeom>
          <a:solidFill>
            <a:srgbClr val="0252CD"/>
          </a:solidFill>
          <a:ln w="12700">
            <a:solidFill>
              <a:srgbClr val="7A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286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ZD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729"/>
                </a:solidFill>
              </a:rPr>
              <a:t>Zani Dalipi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52CD"/>
                </a:solidFill>
              </a:rPr>
              <a:t>Founder &amp; CEO · BalkanEstate.com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zanoin@gmail.com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416052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1788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52CD"/>
                </a:solidFill>
              </a:rPr>
              <a:t>✓  Full-stack 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416052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41788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52CD"/>
                </a:solidFill>
              </a:rPr>
              <a:t>✓  Real Estate Domain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463600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6542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52CD"/>
                </a:solidFill>
              </a:rPr>
              <a:t>✓  Product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636008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EF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6542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52CD"/>
                </a:solidFill>
              </a:rPr>
              <a:t>✓  SEE Market Knowledge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55778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Solo founder — building fast, shipping real features, staying lean.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29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"/>
            <a:ext cx="1069848" cy="292608"/>
          </a:xfrm>
          <a:prstGeom prst="roundRect">
            <a:avLst>
              <a:gd name="adj" fmla="val 15625"/>
            </a:avLst>
          </a:prstGeom>
          <a:solidFill>
            <a:srgbClr val="FF9500">
              <a:alpha val="1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4320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Let's Build the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Future of Real Estate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in Southeast Europe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9144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395728"/>
            <a:ext cx="5029200" cy="1463040"/>
          </a:xfrm>
          <a:prstGeom prst="rect">
            <a:avLst>
              <a:gd name="adj" fmla="val 8750"/>
            </a:avLst>
          </a:prstGeom>
          <a:solidFill>
            <a:srgbClr val="FF9500">
              <a:alpha val="1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420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</a:rPr>
              <a:t>Raising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163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$250,000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5800" y="34381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D0"/>
                </a:solidFill>
              </a:rPr>
              <a:t>Seed · Pre-revenue · SAFE or convertible note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395728"/>
            <a:ext cx="5943600" cy="777240"/>
          </a:xfrm>
          <a:prstGeom prst="rect">
            <a:avLst>
              <a:gd name="adj" fmla="val 11765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4688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</a:rPr>
              <a:t>40%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Growth &amp; Marketing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27340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ABF"/>
                </a:solidFill>
              </a:rPr>
              <a:t>SEO, paid acquisition, agent onboarding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3291840"/>
            <a:ext cx="5943600" cy="777240"/>
          </a:xfrm>
          <a:prstGeom prst="rect">
            <a:avLst>
              <a:gd name="adj" fmla="val 11765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36499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</a:rPr>
              <a:t>30%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3346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630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ABF"/>
                </a:solidFill>
              </a:rPr>
              <a:t>Team hire, feature expansion, mobile 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4187952"/>
            <a:ext cx="5943600" cy="777240"/>
          </a:xfrm>
          <a:prstGeom prst="rect">
            <a:avLst>
              <a:gd name="adj" fmla="val 11765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261104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</a:rPr>
              <a:t>20%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4242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ABF"/>
                </a:solidFill>
              </a:rPr>
              <a:t>Legal, compliance, regional partnerships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5084064"/>
            <a:ext cx="5943600" cy="777240"/>
          </a:xfrm>
          <a:prstGeom prst="rect">
            <a:avLst>
              <a:gd name="adj" fmla="val 11765"/>
            </a:avLst>
          </a:prstGeom>
          <a:solidFill>
            <a:srgbClr val="0A162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5157216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</a:rPr>
              <a:t>10%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5138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Working Capital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5422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ABF"/>
                </a:solidFill>
              </a:rPr>
              <a:t>Buffer for 18-month runway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</a:rPr>
              <a:t>12-Month Targets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D0"/>
                </a:solidFill>
              </a:rPr>
              <a:t>→  500+ active agent subscriptions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8463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D0"/>
                </a:solidFill>
              </a:rPr>
              <a:t>→  50,000+ monthly active users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5257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D0"/>
                </a:solidFill>
              </a:rPr>
              <a:t>→  €30K+ MRR by month 12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806440"/>
            <a:ext cx="11183112" cy="777240"/>
          </a:xfrm>
          <a:prstGeom prst="rect">
            <a:avLst>
              <a:gd name="adj" fmla="val 14118"/>
            </a:avLst>
          </a:prstGeom>
          <a:solidFill>
            <a:srgbClr val="0252CD"/>
          </a:solidFill>
          <a:ln w="12700">
            <a:solidFill>
              <a:srgbClr val="0252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80644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Ready to talk?   zanoin@gmail.com   ·   balkanestate.com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2026-05-31T16:19:58Z</dcterms:created>
  <dcterms:modified xsi:type="dcterms:W3CDTF">2026-05-31T16:19:58Z</dcterms:modified>
</cp:coreProperties>
</file>