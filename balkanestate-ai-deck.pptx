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B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554480"/>
            <a:ext cx="5852160" cy="585216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2377440"/>
            <a:ext cx="4023360" cy="402336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828800"/>
            <a:ext cx="1828800" cy="182880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-1463040"/>
            <a:ext cx="6949440" cy="6949440"/>
          </a:xfrm>
          <a:prstGeom prst="ellipse">
            <a:avLst/>
          </a:prstGeom>
          <a:solidFill>
            <a:srgbClr val="38BDF8">
              <a:alpha val="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-3017520"/>
            <a:ext cx="10058400" cy="10058400"/>
          </a:xfrm>
          <a:prstGeom prst="ellipse">
            <a:avLst/>
          </a:prstGeom>
          <a:solidFill>
            <a:srgbClr val="1A56DB">
              <a:alpha val="0"/>
            </a:srgbClr>
          </a:solidFill>
          <a:ln w="12700">
            <a:solidFill>
              <a:srgbClr val="1A56DB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658368" cy="658368"/>
          </a:xfrm>
          <a:prstGeom prst="roundRect">
            <a:avLst>
              <a:gd name="adj" fmla="val 13889"/>
            </a:avLst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22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44752" y="88696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BalkanEstateAI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1737360"/>
            <a:ext cx="2940710" cy="283464"/>
          </a:xfrm>
          <a:prstGeom prst="roundRect">
            <a:avLst>
              <a:gd name="adj" fmla="val 2580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37360"/>
            <a:ext cx="294071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INVESTOR PITCH DECK  · 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2176272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</a:rPr>
              <a:t>AI-Powered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</a:rPr>
              <a:t>Real Estate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</a:rPr>
              <a:t>for the Balkans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658368" y="4846320"/>
            <a:ext cx="13716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98348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8EB8D8"/>
                </a:solidFill>
              </a:rPr>
              <a:t>Helping buyers, sellers, agents, and agencies discover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8EB8D8"/>
                </a:solidFill>
              </a:rPr>
              <a:t>properties through intelligent search, interactive maps,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8EB8D8"/>
                </a:solidFill>
              </a:rPr>
              <a:t>and modern property management tools.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6236208"/>
            <a:ext cx="2651760" cy="475488"/>
          </a:xfrm>
          <a:prstGeom prst="roundRect">
            <a:avLst>
              <a:gd name="adj" fmla="val 1730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272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AI-First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38528" y="6272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ED0"/>
                </a:solidFill>
              </a:rPr>
              <a:t>Search Experience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92808" y="62727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|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84448" y="6236208"/>
            <a:ext cx="2651760" cy="475488"/>
          </a:xfrm>
          <a:prstGeom prst="roundRect">
            <a:avLst>
              <a:gd name="adj" fmla="val 1730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6272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11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64608" y="6272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ED0"/>
                </a:solidFill>
              </a:rPr>
              <a:t>Countries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62727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|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10528" y="6236208"/>
            <a:ext cx="2651760" cy="475488"/>
          </a:xfrm>
          <a:prstGeom prst="roundRect">
            <a:avLst>
              <a:gd name="adj" fmla="val 1730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6272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Multi-Lang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90688" y="62727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ED0"/>
                </a:solidFill>
              </a:rPr>
              <a:t>Platform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44968" y="62727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|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A9A"/>
                </a:solidFill>
              </a:rPr>
              <a:t>BalkanEstateAI.com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1 /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ln w="12700">
            <a:solidFill>
              <a:srgbClr val="0B1E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114800"/>
            <a:ext cx="5486400" cy="54864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The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Problem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7AAED0"/>
                </a:solidFill>
              </a:rPr>
              <a:t>The real estate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7AAED0"/>
                </a:solidFill>
              </a:rPr>
              <a:t>market in the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7AAED0"/>
                </a:solidFill>
              </a:rPr>
              <a:t>Western Balkans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7AAED0"/>
                </a:solidFill>
              </a:rPr>
              <a:t>is fragmented</a:t>
            </a:r>
            <a:endParaRPr lang="en-US" sz="13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7AAED0"/>
                </a:solidFill>
              </a:rPr>
              <a:t>and broken.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5029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502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502920"/>
            <a:ext cx="75895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502920"/>
            <a:ext cx="54864" cy="5303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55778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</a:rPr>
              <a:t>Property listings are spread across dozens of websites and social media platforms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11880" y="169164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79392" y="1691640"/>
            <a:ext cx="75895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1691640"/>
            <a:ext cx="54864" cy="5303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74650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</a:rPr>
              <a:t>Buyers spend hours searching through incomplete or outdated listings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28803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880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79392" y="2880360"/>
            <a:ext cx="75895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2880360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293522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</a:rPr>
              <a:t>Agencies struggle to gain visibility online and manage listings efficiently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40690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069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79392" y="4069080"/>
            <a:ext cx="75895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4069080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412394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</a:rPr>
              <a:t>Limited access to market insights and any form of pricing transparency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11880" y="52578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52578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9392" y="5257800"/>
            <a:ext cx="75895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9392" y="5257800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531266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</a:rPr>
              <a:t>Platforms lack AI search, interactive maps, and advanced filtering tools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-4114800"/>
            <a:ext cx="8229600" cy="82296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-2560320"/>
            <a:ext cx="5120640" cy="512064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71032" y="-5303520"/>
            <a:ext cx="10607040" cy="10607040"/>
          </a:xfrm>
          <a:prstGeom prst="ellipse">
            <a:avLst/>
          </a:prstGeom>
          <a:solidFill>
            <a:srgbClr val="38BDF8">
              <a:alpha val="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58368"/>
            <a:ext cx="1521562" cy="283464"/>
          </a:xfrm>
          <a:prstGeom prst="roundRect">
            <a:avLst>
              <a:gd name="adj" fmla="val 2580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"/>
            <a:ext cx="152156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One Platform.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Market.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Language.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09728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7AAED0"/>
                </a:solidFill>
              </a:rPr>
              <a:t>BalkanEstateAI is built specifically for the Western Balkans —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7AAED0"/>
                </a:solidFill>
              </a:rPr>
              <a:t>making property search faster, smarter, and more transparent.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438912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38912"/>
            <a:ext cx="2606040" cy="502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5486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11521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AI Property Search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81160" y="438912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438912"/>
            <a:ext cx="260604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54864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81160" y="11521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Interactive Maps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2011680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011680"/>
            <a:ext cx="260604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1214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92240" y="2724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Agency Profiles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1160" y="2011680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011680"/>
            <a:ext cx="26060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21214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1160" y="2724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Pricing Analytics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3584448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584448"/>
            <a:ext cx="260604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69417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92240" y="4297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Saved Searches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81160" y="3584448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3584448"/>
            <a:ext cx="2606040" cy="502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369417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281160" y="4297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Listing Promotions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92240" y="5157216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5157216"/>
            <a:ext cx="260604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526694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492240" y="58704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Multi-Language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281160" y="5157216"/>
            <a:ext cx="2606040" cy="1389888"/>
          </a:xfrm>
          <a:prstGeom prst="roundRect">
            <a:avLst>
              <a:gd name="adj" fmla="val 9211"/>
            </a:avLst>
          </a:prstGeom>
          <a:solidFill>
            <a:srgbClr val="0F25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5157216"/>
            <a:ext cx="260604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526694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81160" y="58704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Mobile-First PWA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ln w="12700">
            <a:solidFill>
              <a:srgbClr val="0B1E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-2743200"/>
            <a:ext cx="5486400" cy="54864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Product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ED0"/>
                </a:solidFill>
              </a:rPr>
              <a:t>What users can do on BalkanEstateAI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539496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2024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568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For Buyers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5786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25786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AI-Powered Search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28529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Natural language and filter-based property discovery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34930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Interactive Map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5568" y="37673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Browse listings on a live map, draw zones to 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407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407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Save &amp; Alert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46817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Save searches and get notified when new matches appear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5321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53218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Price Compare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5568" y="55961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Compare prices and access market pricing insights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82512" y="1920240"/>
            <a:ext cx="539496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2512" y="1920240"/>
            <a:ext cx="5394960" cy="475488"/>
          </a:xfrm>
          <a:prstGeom prst="roundRect">
            <a:avLst>
              <a:gd name="adj" fmla="val 15385"/>
            </a:avLst>
          </a:prstGeom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19568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🏢  For Agents &amp; Agencies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5392" y="25786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25786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Listing Manager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86600" y="28529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Create, edit, and publish property listings in one place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3493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34930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Agency Pages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86600" y="37673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 a professional branded agency profile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65392" y="4407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4407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Promotions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86600" y="46817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Boost visibility through featured and premium placements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5321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6600" y="53218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Analytics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86600" y="55961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Track views, leads, and performance across all listings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6473952"/>
            <a:ext cx="11365992" cy="292608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🌍  N. Macedonia · Albania · Kosovo · Montenegro · Serbia · Bosnia · Croatia · Slovenia · Bulgaria · Greece · Romania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0" y="3200400"/>
            <a:ext cx="7315200" cy="73152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0891B2">
              <a:alpha val="14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228600"/>
            <a:ext cx="6400800" cy="6400800"/>
          </a:xfrm>
          <a:prstGeom prst="ellipse">
            <a:avLst/>
          </a:prstGeom>
          <a:solidFill>
            <a:srgbClr val="38BDF8">
              <a:alpha val="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58368"/>
            <a:ext cx="2053742" cy="283464"/>
          </a:xfrm>
          <a:prstGeom prst="roundRect">
            <a:avLst>
              <a:gd name="adj" fmla="val 2580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"/>
            <a:ext cx="205374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A Growing Region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Underserved by PropTech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78608"/>
            <a:ext cx="54864" cy="8412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0662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6700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Urban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9626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8"/>
                </a:solidFill>
              </a:rPr>
              <a:t>Rapid construction across all Balkan capitals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02736"/>
            <a:ext cx="54864" cy="8412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30752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941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Foreign Investment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98678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8"/>
                </a:solidFill>
              </a:rPr>
              <a:t>Growing expat &amp; diaspora demand for property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26864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626864"/>
            <a:ext cx="54864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7548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47183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Tourism Expansion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5010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8"/>
                </a:solidFill>
              </a:rPr>
              <a:t>Record tourism driving holiday rental demand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650992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650992"/>
            <a:ext cx="54864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779008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34440" y="5742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 Adoption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6035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8"/>
                </a:solidFill>
              </a:rPr>
              <a:t>Rising demand for modern digital services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514600"/>
            <a:ext cx="5577840" cy="4005072"/>
          </a:xfrm>
          <a:prstGeom prst="roundRect">
            <a:avLst>
              <a:gd name="adj" fmla="val 4110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2514600"/>
            <a:ext cx="5577840" cy="64008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432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263640" y="340156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Now?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046720" y="3968496"/>
            <a:ext cx="20116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13308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BCD8"/>
                </a:solidFill>
              </a:rPr>
              <a:t>→  Post-COVID digital adoption surge across SEE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92240" y="460857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BCD8"/>
                </a:solidFill>
              </a:rPr>
              <a:t>→  EU accession tailwinds for Albania, Serbia,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BCD8"/>
                </a:solidFill>
              </a:rPr>
              <a:t>North Macedonia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92240" y="508406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BCD8"/>
                </a:solidFill>
              </a:rPr>
              <a:t>→  No dominant pan-Balkan portal exists today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92240" y="55595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BCD8"/>
                </a:solidFill>
              </a:rPr>
              <a:t>→  Mobile penetration above 80% across the region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5727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88552" y="-3200400"/>
            <a:ext cx="6400800" cy="64008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12064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Business Model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AED0"/>
                </a:solidFill>
              </a:rPr>
              <a:t>Multiple revenue streams · Designed for scale across the region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1810512"/>
            <a:ext cx="2761488" cy="457200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10512"/>
            <a:ext cx="2761488" cy="73152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2112264"/>
            <a:ext cx="1005840" cy="1005840"/>
          </a:xfrm>
          <a:prstGeom prst="ellipse">
            <a:avLst/>
          </a:prstGeom>
          <a:solidFill>
            <a:srgbClr val="1A56DB">
              <a:alpha val="14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21408"/>
            <a:ext cx="2761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3200400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Agent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Subscriptions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70432" y="3950208"/>
            <a:ext cx="1115568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9651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Monthly &amp; annual plans for independent agents. Includes listing quotas and analytics.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6035040"/>
            <a:ext cx="2029968" cy="274320"/>
          </a:xfrm>
          <a:prstGeom prst="roundRect">
            <a:avLst>
              <a:gd name="adj" fmla="val 40000"/>
            </a:avLst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6035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Revenue Stream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73552" y="1810512"/>
            <a:ext cx="2761488" cy="457200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810512"/>
            <a:ext cx="2761488" cy="7315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51376" y="2112264"/>
            <a:ext cx="1005840" cy="1005840"/>
          </a:xfrm>
          <a:prstGeom prst="ellipse">
            <a:avLst/>
          </a:prstGeom>
          <a:solidFill>
            <a:srgbClr val="0891B2">
              <a:alpha val="14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2121408"/>
            <a:ext cx="2761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73552" y="3200400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Agency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Subscriptions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096512" y="3950208"/>
            <a:ext cx="1115568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09651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Team management, multi-agent dashboards, and enterprise listing volumes.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39312" y="6035040"/>
            <a:ext cx="2029968" cy="274320"/>
          </a:xfrm>
          <a:prstGeom prst="roundRect">
            <a:avLst>
              <a:gd name="adj" fmla="val 40000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6035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Revenue Stream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99632" y="1810512"/>
            <a:ext cx="2761488" cy="457200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810512"/>
            <a:ext cx="2761488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77456" y="2112264"/>
            <a:ext cx="1005840" cy="10058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121408"/>
            <a:ext cx="2761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99632" y="3200400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Premium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Promotions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022592" y="3950208"/>
            <a:ext cx="11155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09651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Featured, highlighted, and priority placements in search results and the homepage.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65392" y="6035040"/>
            <a:ext cx="2029968" cy="274320"/>
          </a:xfrm>
          <a:prstGeom prst="roundRect">
            <a:avLst>
              <a:gd name="adj" fmla="val 40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6035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Revenue Stream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25712" y="1810512"/>
            <a:ext cx="2761488" cy="457200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5712" y="1810512"/>
            <a:ext cx="2761488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03536" y="2112264"/>
            <a:ext cx="1005840" cy="100584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25712" y="2121408"/>
            <a:ext cx="2761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125712" y="3200400"/>
            <a:ext cx="276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Advertising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</a:rPr>
              <a:t>&amp; AI Tools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9948672" y="3950208"/>
            <a:ext cx="11155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409651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Display advertising for partners and future premium AI analytics products.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491472" y="6035040"/>
            <a:ext cx="2029968" cy="274320"/>
          </a:xfrm>
          <a:prstGeom prst="roundRect">
            <a:avLst>
              <a:gd name="adj" fmla="val 4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1472" y="6035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Revenue Stream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B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59752" y="-5029200"/>
            <a:ext cx="10058400" cy="100584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62872" y="-2926080"/>
            <a:ext cx="5852160" cy="585216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8152" y="-6400800"/>
            <a:ext cx="12801600" cy="12801600"/>
          </a:xfrm>
          <a:prstGeom prst="ellipse">
            <a:avLst/>
          </a:prstGeom>
          <a:solidFill>
            <a:srgbClr val="38BDF8">
              <a:alpha val="0"/>
            </a:srgbClr>
          </a:solidFill>
          <a:ln w="12700">
            <a:solidFill>
              <a:srgbClr val="38BDF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58368"/>
            <a:ext cx="1166774" cy="283464"/>
          </a:xfrm>
          <a:prstGeom prst="roundRect">
            <a:avLst>
              <a:gd name="adj" fmla="val 2580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"/>
            <a:ext cx="116677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Current Progress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48640" y="1801368"/>
            <a:ext cx="109728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3852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AED0"/>
                </a:solidFill>
              </a:rPr>
              <a:t>Platform launched February 2026 · Early-stage, focused on acquisition and market 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3767328" cy="1828800"/>
          </a:xfrm>
          <a:prstGeom prst="roundRect">
            <a:avLst>
              <a:gd name="adj" fmla="val 7000"/>
            </a:avLst>
          </a:prstGeom>
          <a:solidFill>
            <a:srgbClr val="0F25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487168"/>
            <a:ext cx="3767328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06624"/>
            <a:ext cx="694944" cy="694944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15768"/>
            <a:ext cx="694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07592" y="2651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Platform Live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07592" y="3054096"/>
            <a:ext cx="2651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8ABCD8"/>
                </a:solidFill>
              </a:rPr>
              <a:t>Fully functional web platform live and publicly accessible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9392" y="2487168"/>
            <a:ext cx="3767328" cy="1828800"/>
          </a:xfrm>
          <a:prstGeom prst="roundRect">
            <a:avLst>
              <a:gd name="adj" fmla="val 7000"/>
            </a:avLst>
          </a:prstGeom>
          <a:solidFill>
            <a:srgbClr val="0F25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2487168"/>
            <a:ext cx="37673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706624"/>
            <a:ext cx="694944" cy="694944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715768"/>
            <a:ext cx="694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39512" y="2651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Multi-Country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39512" y="3054096"/>
            <a:ext cx="2651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8ABCD8"/>
                </a:solidFill>
              </a:rPr>
              <a:t>Property listings and search active across multiple countries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1312" y="2487168"/>
            <a:ext cx="3767328" cy="1828800"/>
          </a:xfrm>
          <a:prstGeom prst="roundRect">
            <a:avLst>
              <a:gd name="adj" fmla="val 7000"/>
            </a:avLst>
          </a:prstGeom>
          <a:solidFill>
            <a:srgbClr val="0F25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2487168"/>
            <a:ext cx="37673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2706624"/>
            <a:ext cx="694944" cy="694944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715768"/>
            <a:ext cx="694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71432" y="2651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Agency System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71432" y="3054096"/>
            <a:ext cx="2651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8ABCD8"/>
                </a:solidFill>
              </a:rPr>
              <a:t>Agency and agent profile system fully built and operational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4590288"/>
            <a:ext cx="3767328" cy="1828800"/>
          </a:xfrm>
          <a:prstGeom prst="roundRect">
            <a:avLst>
              <a:gd name="adj" fmla="val 7000"/>
            </a:avLst>
          </a:prstGeom>
          <a:solidFill>
            <a:srgbClr val="0F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590288"/>
            <a:ext cx="37673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9744"/>
            <a:ext cx="694944" cy="694944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18888"/>
            <a:ext cx="694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07592" y="4754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Interactive Maps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307592" y="5157216"/>
            <a:ext cx="2651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8ABCD8"/>
                </a:solidFill>
              </a:rPr>
              <a:t>Map-based property search live with draw-zone capability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79392" y="4590288"/>
            <a:ext cx="3767328" cy="1828800"/>
          </a:xfrm>
          <a:prstGeom prst="roundRect">
            <a:avLst>
              <a:gd name="adj" fmla="val 7000"/>
            </a:avLst>
          </a:prstGeom>
          <a:solidFill>
            <a:srgbClr val="0F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9392" y="4590288"/>
            <a:ext cx="37673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4840" y="4809744"/>
            <a:ext cx="694944" cy="6949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4818888"/>
            <a:ext cx="694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39512" y="4754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Active Outreach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239512" y="5157216"/>
            <a:ext cx="2651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8ABCD8"/>
                </a:solidFill>
              </a:rPr>
              <a:t>Onboarding agencies via direct outreach and social media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11312" y="4590288"/>
            <a:ext cx="3767328" cy="1828800"/>
          </a:xfrm>
          <a:prstGeom prst="roundRect">
            <a:avLst>
              <a:gd name="adj" fmla="val 7000"/>
            </a:avLst>
          </a:prstGeom>
          <a:solidFill>
            <a:srgbClr val="0F25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4590288"/>
            <a:ext cx="3767328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66760" y="4809744"/>
            <a:ext cx="694944" cy="694944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4818888"/>
            <a:ext cx="694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171432" y="4754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Growing Network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171432" y="5157216"/>
            <a:ext cx="2651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8ABCD8"/>
                </a:solidFill>
              </a:rPr>
              <a:t>Building partner network of agencies across the Balkans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62763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-3200400"/>
            <a:ext cx="6400800" cy="64008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1206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Competitive Advantage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AED0"/>
                </a:solidFill>
              </a:rPr>
              <a:t>We are not another generic listing portal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83464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28800"/>
            <a:ext cx="283464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933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Built for This Region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Designed exclusively for Western Balkans — not adapted from a global template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1828800"/>
            <a:ext cx="283464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828800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9933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26334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AI-First Experience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3072384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Natural language search and intelligent recommendations at the 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828800"/>
            <a:ext cx="283464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82880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9933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26334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Native Multi-Language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3072384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Full localisation across all target countries from day 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25712" y="1828800"/>
            <a:ext cx="283464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182880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9933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35440" y="26334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Draw-Zone Map Search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3072384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Users draw areas on a map — not just filter by city name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4224528"/>
            <a:ext cx="370332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224528"/>
            <a:ext cx="37033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3891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68096" y="5029200"/>
            <a:ext cx="3483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Agency-Focused Tools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68096" y="5468112"/>
            <a:ext cx="3483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Dedicated agency management dashboard built in — not an afterthought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53128" y="4224528"/>
            <a:ext cx="370332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53128" y="4224528"/>
            <a:ext cx="37033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43891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562856" y="5029200"/>
            <a:ext cx="3483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Regional Scale Path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62856" y="5468112"/>
            <a:ext cx="3483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Architecture built to expand country by country across Southeast Europe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47888" y="4224528"/>
            <a:ext cx="3703320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7D9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224528"/>
            <a:ext cx="37033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7888" y="43891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357616" y="5029200"/>
            <a:ext cx="3483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D"/>
                </a:solidFill>
              </a:rPr>
              <a:t>Modern UX Design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357616" y="5468112"/>
            <a:ext cx="3483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Consumer-grade UI compared to outdated traditional portals in the region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6952" y="2286000"/>
            <a:ext cx="9144000" cy="91440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-2057400"/>
            <a:ext cx="10972800" cy="10972800"/>
          </a:xfrm>
          <a:prstGeom prst="ellipse">
            <a:avLst/>
          </a:prstGeom>
          <a:solidFill>
            <a:srgbClr val="38BDF8">
              <a:alpha val="0"/>
            </a:srgbClr>
          </a:solidFill>
          <a:ln w="12700">
            <a:solidFill>
              <a:srgbClr val="38BDF8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58368"/>
            <a:ext cx="1166774" cy="283464"/>
          </a:xfrm>
          <a:prstGeom prst="roundRect">
            <a:avLst>
              <a:gd name="adj" fmla="val 2580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"/>
            <a:ext cx="116677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Built by a Founder Who Ships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48640" y="1810512"/>
            <a:ext cx="109728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121408"/>
            <a:ext cx="9985248" cy="4224528"/>
          </a:xfrm>
          <a:prstGeom prst="roundRect">
            <a:avLst>
              <a:gd name="adj" fmla="val 4329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121408"/>
            <a:ext cx="9985248" cy="64008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3227832"/>
            <a:ext cx="1920240" cy="19202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227832"/>
            <a:ext cx="1920240" cy="1920240"/>
          </a:xfrm>
          <a:prstGeom prst="ellipse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227832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1938528" y="3108960"/>
            <a:ext cx="2157984" cy="2157984"/>
          </a:xfrm>
          <a:prstGeom prst="ellipse">
            <a:avLst/>
          </a:prstGeom>
          <a:solidFill>
            <a:srgbClr val="0891B2">
              <a:alpha val="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42316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Valdet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206240" y="312724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Founder &amp; CEO  ·  BalkanEstateAI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3611880"/>
            <a:ext cx="2286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794760"/>
            <a:ext cx="6492240" cy="457200"/>
          </a:xfrm>
          <a:prstGeom prst="roundRect">
            <a:avLst>
              <a:gd name="adj" fmla="val 20000"/>
            </a:avLst>
          </a:prstGeom>
          <a:solidFill>
            <a:srgbClr val="0B1E3D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38404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🛠️  Android Developer &amp; Software Engineer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06240" y="4361688"/>
            <a:ext cx="6492240" cy="457200"/>
          </a:xfrm>
          <a:prstGeom prst="roundRect">
            <a:avLst>
              <a:gd name="adj" fmla="val 20000"/>
            </a:avLst>
          </a:prstGeom>
          <a:solidFill>
            <a:srgbClr val="0B1E3D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440740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🏗️  Mobile Architecture &amp; AI Integrations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06240" y="4928616"/>
            <a:ext cx="6492240" cy="457200"/>
          </a:xfrm>
          <a:prstGeom prst="roundRect">
            <a:avLst>
              <a:gd name="adj" fmla="val 20000"/>
            </a:avLst>
          </a:prstGeom>
          <a:solidFill>
            <a:srgbClr val="0B1E3D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497433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🎨  Product Design &amp; UX Development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06240" y="5495544"/>
            <a:ext cx="6492240" cy="457200"/>
          </a:xfrm>
          <a:prstGeom prst="roundRect">
            <a:avLst>
              <a:gd name="adj" fmla="val 20000"/>
            </a:avLst>
          </a:prstGeom>
          <a:solidFill>
            <a:srgbClr val="0B1E3D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554126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🌍  Western Balkans Domain Expertise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97280" y="6053328"/>
            <a:ext cx="9985248" cy="530352"/>
          </a:xfrm>
          <a:prstGeom prst="roundRect">
            <a:avLst>
              <a:gd name="adj" fmla="val 17241"/>
            </a:avLst>
          </a:prstGeom>
          <a:solidFill>
            <a:srgbClr val="0B1E3D">
              <a:alpha val="50000"/>
            </a:srgbClr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1872" y="60990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</a:rPr>
              <a:t>⭐  Currently seeking strategic partners, mentors, and investors to accelerate growth.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B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-1325880"/>
            <a:ext cx="9509760" cy="9509760"/>
          </a:xfrm>
          <a:prstGeom prst="ellipse">
            <a:avLst/>
          </a:prstGeom>
          <a:solidFill>
            <a:srgbClr val="1A56DB">
              <a:alpha val="0"/>
            </a:srgbClr>
          </a:solidFill>
          <a:ln w="12700">
            <a:solidFill>
              <a:srgbClr val="1A56D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80360" y="228600"/>
            <a:ext cx="6400800" cy="6400800"/>
          </a:xfrm>
          <a:prstGeom prst="ellipse">
            <a:avLst/>
          </a:prstGeom>
          <a:solidFill>
            <a:srgbClr val="0891B2">
              <a:alpha val="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0" y="2514600"/>
            <a:ext cx="1828800" cy="1828800"/>
          </a:xfrm>
          <a:prstGeom prst="ellipse">
            <a:avLst/>
          </a:prstGeom>
          <a:solidFill>
            <a:srgbClr val="1A56DB">
              <a:alpha val="14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-3200400" y="36576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5752" y="-2743200"/>
            <a:ext cx="5486400" cy="54864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658368"/>
            <a:ext cx="1521562" cy="283464"/>
          </a:xfrm>
          <a:prstGeom prst="roundRect">
            <a:avLst>
              <a:gd name="adj" fmla="val 2580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"/>
            <a:ext cx="152156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VISION &amp; ASK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115568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Become the Leading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AI Real Estate Platform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in the Western Balkans.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9144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821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What We Are Looking For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0F2540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749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🧭  Strategic Mentorship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3657600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0F2540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749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🤝  Industry Partnerships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52544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0F2540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4439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📣  Marketing Support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4352544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0F2540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44439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💰  Early-Stage Investment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51660" y="5047488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0F2540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1388" y="5138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🌐  Regional Networks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1078992"/>
            <a:ext cx="4892040" cy="5468112"/>
          </a:xfrm>
          <a:prstGeom prst="roundRect">
            <a:avLst>
              <a:gd name="adj" fmla="val 3364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078992"/>
            <a:ext cx="4892040" cy="64008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2618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Why BalkanEstateAI Wins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150608" y="1737360"/>
            <a:ext cx="16459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9202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99248" y="1947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Regional First-Mover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99248" y="22677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AAED0"/>
                </a:solidFill>
              </a:rPr>
              <a:t>11 countries, one unified platform — no one else has done this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50608" y="28346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99248" y="28620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at the Core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99248" y="3182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AAED0"/>
                </a:solidFill>
              </a:rPr>
              <a:t>Smarter search and recommendations from day 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0608" y="37490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699248" y="3776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Multiple Revenue Streams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99248" y="40965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AAED0"/>
                </a:solidFill>
              </a:rPr>
              <a:t>Subscriptions, promotions, advertising, and AI tools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50608" y="46634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699248" y="46908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 Ready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99248" y="50109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AAED0"/>
                </a:solidFill>
              </a:rPr>
              <a:t>Built to expand country by country across SEE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50608" y="55778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699248" y="56052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Modern vs Incumbents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99248" y="59253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AAED0"/>
                </a:solidFill>
              </a:rPr>
              <a:t>Consumer-grade UX against outdated traditional portals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ln w="12700">
            <a:solidFill>
              <a:srgbClr val="1A56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🌐  BalkanEstateAI.com  ·  Building the future of real estate discovery in the Balkans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2026-05-31T16:40:47Z</dcterms:created>
  <dcterms:modified xsi:type="dcterms:W3CDTF">2026-05-31T16:40:47Z</dcterms:modified>
</cp:coreProperties>
</file>