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 w="12700">
            <a:solidFill>
              <a:srgbClr val="0810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-1371600"/>
            <a:ext cx="6400800" cy="6400800"/>
          </a:xfrm>
          <a:prstGeom prst="ellipse">
            <a:avLst/>
          </a:prstGeom>
          <a:solidFill>
            <a:srgbClr val="0EA5A0">
              <a:alpha val="8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005840"/>
            <a:ext cx="640080" cy="640080"/>
          </a:xfrm>
          <a:prstGeom prst="roundRect">
            <a:avLst>
              <a:gd name="adj" fmla="val 14286"/>
            </a:avLst>
          </a:prstGeom>
          <a:ln w="12700">
            <a:solidFill>
              <a:srgbClr val="1A56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89888" y="1060704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BalkanEstateAI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2286000" cy="274320"/>
          </a:xfrm>
          <a:prstGeom prst="roundRect">
            <a:avLst>
              <a:gd name="adj" fmla="val 20000"/>
            </a:avLst>
          </a:prstGeom>
          <a:solidFill>
            <a:srgbClr val="0EA5A0">
              <a:alpha val="12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2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A5A0"/>
                </a:solidFill>
              </a:rPr>
              <a:t>Investor Deck · 2026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359152"/>
            <a:ext cx="7772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FFFFFF"/>
                </a:solidFill>
              </a:rPr>
              <a:t>AI-Powered Real Estate</a:t>
            </a:r>
            <a:endParaRPr lang="en-US" sz="4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FFFFFF"/>
                </a:solidFill>
              </a:rPr>
              <a:t>for the Western Balkans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40080" y="3986784"/>
            <a:ext cx="1280160" cy="4114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16052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8EB4D8"/>
                </a:solidFill>
              </a:rPr>
              <a:t>Helping buyers, sellers, agents, and agencies discover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8EB4D8"/>
                </a:solidFill>
              </a:rPr>
              <a:t>properties through intelligent search, interactive maps,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8EB4D8"/>
                </a:solidFill>
              </a:rPr>
              <a:t>and modern property management tools.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394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A5A0"/>
                </a:solidFill>
              </a:rPr>
              <a:t>AI-First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5705856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9ABE"/>
                </a:solidFill>
              </a:rPr>
              <a:t>Search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534924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5394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A5A0"/>
                </a:solidFill>
              </a:rPr>
              <a:t>10+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00400" y="5705856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9ABE"/>
                </a:solidFill>
              </a:rPr>
              <a:t>Countries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760720" y="534924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5394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A5A0"/>
                </a:solidFill>
              </a:rPr>
              <a:t>Multi-Language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760720" y="5705856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9ABE"/>
                </a:solidFill>
              </a:rPr>
              <a:t>Platform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30936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A7A9E"/>
                </a:solidFill>
              </a:rPr>
              <a:t>BalkanEstateAI.com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56032"/>
            <a:ext cx="1421892" cy="274320"/>
          </a:xfrm>
          <a:prstGeom prst="roundRect">
            <a:avLst>
              <a:gd name="adj" fmla="val 20000"/>
            </a:avLst>
          </a:prstGeom>
          <a:solidFill>
            <a:srgbClr val="1A56C4">
              <a:alpha val="12000"/>
            </a:srgbClr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14218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56C4"/>
                </a:solidFill>
              </a:rPr>
              <a:t>The Problem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D1B2A"/>
                </a:solidFill>
              </a:rPr>
              <a:t>The Real Estate Market in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D1B2A"/>
                </a:solidFill>
              </a:rPr>
              <a:t>the Western Balkans is Fragmented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764792"/>
            <a:ext cx="1005840" cy="4114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11155680" cy="786384"/>
          </a:xfrm>
          <a:prstGeom prst="rect">
            <a:avLst>
              <a:gd name="adj" fmla="val 13953"/>
            </a:avLst>
          </a:prstGeom>
          <a:solidFill>
            <a:srgbClr val="F8FAFE"/>
          </a:solidFill>
          <a:ln w="12700">
            <a:solidFill>
              <a:srgbClr val="D8E6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965960"/>
            <a:ext cx="50292" cy="786384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9397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61872" y="2112264"/>
            <a:ext cx="10149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D1B2A"/>
                </a:solidFill>
              </a:rPr>
              <a:t>Listings spread across multiple websites and social media platforms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11155680" cy="786384"/>
          </a:xfrm>
          <a:prstGeom prst="rect">
            <a:avLst>
              <a:gd name="adj" fmla="val 13953"/>
            </a:avLst>
          </a:prstGeom>
          <a:solidFill>
            <a:srgbClr val="F8FAFE"/>
          </a:solidFill>
          <a:ln w="12700">
            <a:solidFill>
              <a:srgbClr val="D8E6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898648"/>
            <a:ext cx="50292" cy="786384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0266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⏳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61872" y="3044952"/>
            <a:ext cx="10149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D1B2A"/>
                </a:solidFill>
              </a:rPr>
              <a:t>Buyers spend hours searching through incomplete or outdated listings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3831336"/>
            <a:ext cx="11155680" cy="786384"/>
          </a:xfrm>
          <a:prstGeom prst="rect">
            <a:avLst>
              <a:gd name="adj" fmla="val 13953"/>
            </a:avLst>
          </a:prstGeom>
          <a:solidFill>
            <a:srgbClr val="F8FAFE"/>
          </a:solidFill>
          <a:ln w="12700">
            <a:solidFill>
              <a:srgbClr val="D8E6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3831336"/>
            <a:ext cx="50292" cy="786384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95935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261872" y="3977640"/>
            <a:ext cx="10149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D1B2A"/>
                </a:solidFill>
              </a:rPr>
              <a:t>Agencies struggle to gain visibility and manage listings efficiently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4764024"/>
            <a:ext cx="11155680" cy="786384"/>
          </a:xfrm>
          <a:prstGeom prst="rect">
            <a:avLst>
              <a:gd name="adj" fmla="val 13953"/>
            </a:avLst>
          </a:prstGeom>
          <a:solidFill>
            <a:srgbClr val="F8FAFE"/>
          </a:solidFill>
          <a:ln w="12700">
            <a:solidFill>
              <a:srgbClr val="D8E6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4764024"/>
            <a:ext cx="50292" cy="786384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8920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261872" y="4910328"/>
            <a:ext cx="10149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D1B2A"/>
                </a:solidFill>
              </a:rPr>
              <a:t>Limited access to market insights and pricing transparency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2920" y="5696712"/>
            <a:ext cx="11155680" cy="786384"/>
          </a:xfrm>
          <a:prstGeom prst="rect">
            <a:avLst>
              <a:gd name="adj" fmla="val 13953"/>
            </a:avLst>
          </a:prstGeom>
          <a:solidFill>
            <a:srgbClr val="F8FAFE"/>
          </a:solidFill>
          <a:ln w="12700">
            <a:solidFill>
              <a:srgbClr val="D8E6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5696712"/>
            <a:ext cx="50292" cy="786384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582472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261872" y="5843016"/>
            <a:ext cx="10149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D1B2A"/>
                </a:solidFill>
              </a:rPr>
              <a:t>Most platforms lack AI search, interactive maps, and advanced filtering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56032"/>
            <a:ext cx="1517904" cy="274320"/>
          </a:xfrm>
          <a:prstGeom prst="roundRect">
            <a:avLst>
              <a:gd name="adj" fmla="val 20000"/>
            </a:avLst>
          </a:prstGeom>
          <a:solidFill>
            <a:srgbClr val="0EA5A0">
              <a:alpha val="12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A5A0"/>
                </a:solidFill>
              </a:rPr>
              <a:t>Our Solution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D1B2A"/>
                </a:solidFill>
              </a:rPr>
              <a:t>BalkanEstateAI — Built for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D1B2A"/>
                </a:solidFill>
              </a:rPr>
              <a:t>the Western Balkans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764792"/>
            <a:ext cx="1005840" cy="4114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90195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E85"/>
                </a:solidFill>
              </a:rPr>
              <a:t>An AI-powered real estate platform making property search easier, faster, and more transparent.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11480" y="2487168"/>
            <a:ext cx="2743200" cy="1783080"/>
          </a:xfrm>
          <a:prstGeom prst="rect">
            <a:avLst>
              <a:gd name="adj" fmla="val 6154"/>
            </a:avLst>
          </a:prstGeom>
          <a:solidFill>
            <a:srgbClr val="E8F1FF"/>
          </a:solidFill>
          <a:ln w="12700">
            <a:solidFill>
              <a:srgbClr val="C0D4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2688336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11480" y="3328416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AI-Assisted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Property Search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37560" y="2487168"/>
            <a:ext cx="2743200" cy="1783080"/>
          </a:xfrm>
          <a:prstGeom prst="rect">
            <a:avLst>
              <a:gd name="adj" fmla="val 6154"/>
            </a:avLst>
          </a:prstGeom>
          <a:solidFill>
            <a:srgbClr val="E6FBF8"/>
          </a:solidFill>
          <a:ln w="12700">
            <a:solidFill>
              <a:srgbClr val="A0E8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2688336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🗺️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337560" y="3328416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Interactive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Map Discovery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2487168"/>
            <a:ext cx="2743200" cy="1783080"/>
          </a:xfrm>
          <a:prstGeom prst="rect">
            <a:avLst>
              <a:gd name="adj" fmla="val 6154"/>
            </a:avLst>
          </a:prstGeom>
          <a:solidFill>
            <a:srgbClr val="FFF3E6"/>
          </a:solidFill>
          <a:ln w="12700">
            <a:solidFill>
              <a:srgbClr val="FFD0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2688336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🏢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63640" y="3328416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Agency &amp;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Agent Profiles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89720" y="2487168"/>
            <a:ext cx="2743200" cy="1783080"/>
          </a:xfrm>
          <a:prstGeom prst="rect">
            <a:avLst>
              <a:gd name="adj" fmla="val 6154"/>
            </a:avLst>
          </a:prstGeom>
          <a:solidFill>
            <a:srgbClr val="F0EBF8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2688336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9189720" y="3328416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Analytics &amp;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Pricing Insights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4498848"/>
            <a:ext cx="2743200" cy="1783080"/>
          </a:xfrm>
          <a:prstGeom prst="rect">
            <a:avLst>
              <a:gd name="adj" fmla="val 6154"/>
            </a:avLst>
          </a:prstGeom>
          <a:solidFill>
            <a:srgbClr val="E8F1FF"/>
          </a:solidFill>
          <a:ln w="12700">
            <a:solidFill>
              <a:srgbClr val="C0D4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4700016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🔔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11480" y="5340096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Saved Searches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&amp; Alerts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337560" y="4498848"/>
            <a:ext cx="2743200" cy="1783080"/>
          </a:xfrm>
          <a:prstGeom prst="rect">
            <a:avLst>
              <a:gd name="adj" fmla="val 6154"/>
            </a:avLst>
          </a:prstGeom>
          <a:solidFill>
            <a:srgbClr val="E6FBF8"/>
          </a:solidFill>
          <a:ln w="12700">
            <a:solidFill>
              <a:srgbClr val="A0E8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37560" y="4700016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🚀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3337560" y="5340096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Property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Promotion Tools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63640" y="4498848"/>
            <a:ext cx="2743200" cy="1783080"/>
          </a:xfrm>
          <a:prstGeom prst="rect">
            <a:avLst>
              <a:gd name="adj" fmla="val 6154"/>
            </a:avLst>
          </a:prstGeom>
          <a:solidFill>
            <a:srgbClr val="FFF3E6"/>
          </a:solidFill>
          <a:ln w="12700">
            <a:solidFill>
              <a:srgbClr val="FFD0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4700016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🌍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263640" y="5340096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Multi-Language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Support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89720" y="4498848"/>
            <a:ext cx="2743200" cy="1783080"/>
          </a:xfrm>
          <a:prstGeom prst="rect">
            <a:avLst>
              <a:gd name="adj" fmla="val 6154"/>
            </a:avLst>
          </a:prstGeom>
          <a:solidFill>
            <a:srgbClr val="F0EBF8"/>
          </a:solidFill>
          <a:ln w="12700">
            <a:solidFill>
              <a:srgbClr val="C9B8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89720" y="4700016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📱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9189720" y="5340096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Mobile-Friendly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B2A"/>
                </a:solidFill>
              </a:rPr>
              <a:t>Experience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56032"/>
            <a:ext cx="1421892" cy="274320"/>
          </a:xfrm>
          <a:prstGeom prst="roundRect">
            <a:avLst>
              <a:gd name="adj" fmla="val 20000"/>
            </a:avLst>
          </a:prstGeom>
          <a:solidFill>
            <a:srgbClr val="38BDF8">
              <a:alpha val="12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14218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The Product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What Users Can Do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914400" cy="411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600200"/>
            <a:ext cx="5303520" cy="3931920"/>
          </a:xfrm>
          <a:prstGeom prst="rect">
            <a:avLst>
              <a:gd name="adj" fmla="val 2791"/>
            </a:avLst>
          </a:prstGeom>
          <a:solidFill>
            <a:srgbClr val="1E2D40"/>
          </a:solidFill>
          <a:ln w="12700">
            <a:solidFill>
              <a:srgbClr val="1E3A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600200"/>
            <a:ext cx="50292" cy="3931920"/>
          </a:xfrm>
          <a:prstGeom prst="rect">
            <a:avLst>
              <a:gd name="adj" fmla="val 54545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373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🏠  For Buyers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28600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CCE8"/>
                </a:solidFill>
              </a:rPr>
              <a:t>→  Search properties using AI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94360" y="2852928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CCE8"/>
                </a:solidFill>
              </a:rPr>
              <a:t>→  Discover listings through interactive maps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94360" y="341985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CCE8"/>
                </a:solidFill>
              </a:rPr>
              <a:t>→  Save searches and receive alerts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94360" y="3986784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CCE8"/>
                </a:solidFill>
              </a:rPr>
              <a:t>→  Compare property prices and get insights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89320" y="1600200"/>
            <a:ext cx="5303520" cy="3931920"/>
          </a:xfrm>
          <a:prstGeom prst="rect">
            <a:avLst>
              <a:gd name="adj" fmla="val 2791"/>
            </a:avLst>
          </a:prstGeom>
          <a:solidFill>
            <a:srgbClr val="1E2D40"/>
          </a:solidFill>
          <a:ln w="12700">
            <a:solidFill>
              <a:srgbClr val="1E3A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89320" y="1600200"/>
            <a:ext cx="50292" cy="3931920"/>
          </a:xfrm>
          <a:prstGeom prst="rect">
            <a:avLst>
              <a:gd name="adj" fmla="val 54545"/>
            </a:avLst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7373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A0"/>
                </a:solidFill>
              </a:rPr>
              <a:t>🏢  For Agents &amp; Agencies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17920" y="228600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CCE8"/>
                </a:solidFill>
              </a:rPr>
              <a:t>→  Manage listings in one place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17920" y="2852928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CCE8"/>
                </a:solidFill>
              </a:rPr>
              <a:t>→  Create professional agency pages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217920" y="341985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CCE8"/>
                </a:solidFill>
              </a:rPr>
              <a:t>→  Increase visibility through promotions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217920" y="3986784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CCE8"/>
                </a:solidFill>
              </a:rPr>
              <a:t>→  Access analytics and performance tools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65760" y="5687568"/>
            <a:ext cx="10927080" cy="877824"/>
          </a:xfrm>
          <a:prstGeom prst="rect">
            <a:avLst>
              <a:gd name="adj" fmla="val 10417"/>
            </a:avLst>
          </a:prstGeom>
          <a:solidFill>
            <a:srgbClr val="08101E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577900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A0"/>
                </a:solidFill>
              </a:rPr>
              <a:t>🌍  Countries Supported: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880360" y="576072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EB4D8"/>
                </a:solidFill>
              </a:rPr>
              <a:t>North Macedonia · Albania · Kosovo · Montenegro · Serbia · Bosnia &amp; Herzegovina · Croatia · Slovenia · Bulgaria · Greece · Romania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56032"/>
            <a:ext cx="2093976" cy="274320"/>
          </a:xfrm>
          <a:prstGeom prst="roundRect">
            <a:avLst>
              <a:gd name="adj" fmla="val 20000"/>
            </a:avLst>
          </a:prstGeom>
          <a:solidFill>
            <a:srgbClr val="1A56C4">
              <a:alpha val="12000"/>
            </a:srgbClr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20939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56C4"/>
                </a:solidFill>
              </a:rPr>
              <a:t>Market Opportunity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0972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D1B2A"/>
                </a:solidFill>
              </a:rPr>
              <a:t>A Growing Market —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D1B2A"/>
                </a:solidFill>
              </a:rPr>
              <a:t>Underserved by Modern PropTech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764792"/>
            <a:ext cx="1005840" cy="4114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993392"/>
            <a:ext cx="5532120" cy="1508760"/>
          </a:xfrm>
          <a:prstGeom prst="rect">
            <a:avLst>
              <a:gd name="adj" fmla="val 7273"/>
            </a:avLst>
          </a:prstGeom>
          <a:solidFill>
            <a:srgbClr val="F6F9FF"/>
          </a:solidFill>
          <a:ln w="12700">
            <a:solidFill>
              <a:srgbClr val="C8D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993392"/>
            <a:ext cx="50292" cy="1508760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188720" y="21762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Urban Development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25603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E85"/>
                </a:solidFill>
              </a:rPr>
              <a:t>Rapid construction and urbanisation across all Balkan capitals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1993392"/>
            <a:ext cx="5532120" cy="1508760"/>
          </a:xfrm>
          <a:prstGeom prst="rect">
            <a:avLst>
              <a:gd name="adj" fmla="val 7273"/>
            </a:avLst>
          </a:prstGeom>
          <a:solidFill>
            <a:srgbClr val="F6F9FF"/>
          </a:solidFill>
          <a:ln w="12700">
            <a:solidFill>
              <a:srgbClr val="C8D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993392"/>
            <a:ext cx="50292" cy="1508760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36792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949440" y="21762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Foreign Investment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49440" y="25603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E85"/>
                </a:solidFill>
              </a:rPr>
              <a:t>Growing expat and diaspora interest in regional real estate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3712464"/>
            <a:ext cx="5532120" cy="1508760"/>
          </a:xfrm>
          <a:prstGeom prst="rect">
            <a:avLst>
              <a:gd name="adj" fmla="val 7273"/>
            </a:avLst>
          </a:prstGeom>
          <a:solidFill>
            <a:srgbClr val="F6F9FF"/>
          </a:solidFill>
          <a:ln w="12700">
            <a:solidFill>
              <a:srgbClr val="C8D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" y="3712464"/>
            <a:ext cx="50292" cy="1508760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" y="39136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✈️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188720" y="3895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Tourism Expansion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427939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E85"/>
                </a:solidFill>
              </a:rPr>
              <a:t>Record tourism driving demand for short-term and holiday rentals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72200" y="3712464"/>
            <a:ext cx="5532120" cy="1508760"/>
          </a:xfrm>
          <a:prstGeom prst="rect">
            <a:avLst>
              <a:gd name="adj" fmla="val 7273"/>
            </a:avLst>
          </a:prstGeom>
          <a:solidFill>
            <a:srgbClr val="F6F9FF"/>
          </a:solidFill>
          <a:ln w="12700">
            <a:solidFill>
              <a:srgbClr val="C8D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72200" y="3712464"/>
            <a:ext cx="50292" cy="1508760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36792" y="39136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📲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949440" y="3895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Digital Demand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49440" y="427939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E85"/>
                </a:solidFill>
              </a:rPr>
              <a:t>Increasing appetite for digital services across all demographics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1480" y="5577840"/>
            <a:ext cx="11338560" cy="987552"/>
          </a:xfrm>
          <a:prstGeom prst="rect">
            <a:avLst>
              <a:gd name="adj" fmla="val 11111"/>
            </a:avLst>
          </a:prstGeom>
          <a:solidFill>
            <a:srgbClr val="EBF3FF"/>
          </a:solidFill>
          <a:ln w="12700">
            <a:solidFill>
              <a:srgbClr val="B0CF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5687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170432" y="5650992"/>
            <a:ext cx="10378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0D1B2A"/>
                </a:solidFill>
              </a:rPr>
              <a:t>Despite strong growth across the region, modern PropTech solutions remain significantly behind Western Europe — creating a clear first-mover opportunity for BalkanEstateAI.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56032"/>
            <a:ext cx="1709928" cy="274320"/>
          </a:xfrm>
          <a:prstGeom prst="roundRect">
            <a:avLst>
              <a:gd name="adj" fmla="val 20000"/>
            </a:avLst>
          </a:prstGeom>
          <a:solidFill>
            <a:srgbClr val="1A56C4">
              <a:alpha val="12000"/>
            </a:srgbClr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1709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56C4"/>
                </a:solidFill>
              </a:rPr>
              <a:t>Business Model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0972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D1B2A"/>
                </a:solidFill>
              </a:rPr>
              <a:t>Multiple Revenue Streams.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D1B2A"/>
                </a:solidFill>
              </a:rPr>
              <a:t>Designed to Scale.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764792"/>
            <a:ext cx="1005840" cy="4114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993392"/>
            <a:ext cx="5577840" cy="1920240"/>
          </a:xfrm>
          <a:prstGeom prst="rect">
            <a:avLst>
              <a:gd name="adj" fmla="val 5714"/>
            </a:avLst>
          </a:prstGeom>
          <a:solidFill>
            <a:srgbClr val="F8FAFF"/>
          </a:solidFill>
          <a:ln w="12700">
            <a:solidFill>
              <a:srgbClr val="C8D8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993392"/>
            <a:ext cx="5577840" cy="54864"/>
          </a:xfrm>
          <a:prstGeom prst="rect">
            <a:avLst>
              <a:gd name="adj" fmla="val 50000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52728" y="217627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A"/>
                </a:solidFill>
              </a:rPr>
              <a:t>Agent Subscriptions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76072" y="2651760"/>
            <a:ext cx="5257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A6E85"/>
                </a:solidFill>
              </a:rPr>
              <a:t>Monthly and annual plans for independent agents with listing quotas and analytics access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993392"/>
            <a:ext cx="5577840" cy="1920240"/>
          </a:xfrm>
          <a:prstGeom prst="rect">
            <a:avLst>
              <a:gd name="adj" fmla="val 5714"/>
            </a:avLst>
          </a:prstGeom>
          <a:solidFill>
            <a:srgbClr val="F8FAFF"/>
          </a:solidFill>
          <a:ln w="12700">
            <a:solidFill>
              <a:srgbClr val="C8D8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993392"/>
            <a:ext cx="5577840" cy="54864"/>
          </a:xfrm>
          <a:prstGeom prst="rect">
            <a:avLst>
              <a:gd name="adj" fmla="val 50000"/>
            </a:avLst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🏢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059168" y="217627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A"/>
                </a:solidFill>
              </a:rPr>
              <a:t>Agency Subscriptions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382512" y="2651760"/>
            <a:ext cx="5257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A6E85"/>
                </a:solidFill>
              </a:rPr>
              <a:t>Team management, multi-agent dashboards, and enterprise-level listing volumes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4142232"/>
            <a:ext cx="5577840" cy="1920240"/>
          </a:xfrm>
          <a:prstGeom prst="rect">
            <a:avLst>
              <a:gd name="adj" fmla="val 5714"/>
            </a:avLst>
          </a:prstGeom>
          <a:solidFill>
            <a:srgbClr val="F8FAFF"/>
          </a:solidFill>
          <a:ln w="12700">
            <a:solidFill>
              <a:srgbClr val="C8D8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" y="4142232"/>
            <a:ext cx="5577840" cy="54864"/>
          </a:xfrm>
          <a:prstGeom prst="rect">
            <a:avLst>
              <a:gd name="adj" fmla="val 50000"/>
            </a:avLst>
          </a:prstGeom>
          <a:solidFill>
            <a:srgbClr val="E07000"/>
          </a:solidFill>
          <a:ln w="12700">
            <a:solidFill>
              <a:srgbClr val="E07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343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⭐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52728" y="432511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A"/>
                </a:solidFill>
              </a:rPr>
              <a:t>Premium Promotions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76072" y="4800600"/>
            <a:ext cx="5257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A6E85"/>
                </a:solidFill>
              </a:rPr>
              <a:t>Featured listings, highlighted placements, and priority positioning in search results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4142232"/>
            <a:ext cx="5577840" cy="1920240"/>
          </a:xfrm>
          <a:prstGeom prst="rect">
            <a:avLst>
              <a:gd name="adj" fmla="val 5714"/>
            </a:avLst>
          </a:prstGeom>
          <a:solidFill>
            <a:srgbClr val="F8FAFF"/>
          </a:solidFill>
          <a:ln w="12700">
            <a:solidFill>
              <a:srgbClr val="C8D8F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4142232"/>
            <a:ext cx="5577840" cy="54864"/>
          </a:xfrm>
          <a:prstGeom prst="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4343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📣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059168" y="432511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A"/>
                </a:solidFill>
              </a:rPr>
              <a:t>Advertising &amp; AI Tools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382512" y="4800600"/>
            <a:ext cx="5257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A6E85"/>
                </a:solidFill>
              </a:rPr>
              <a:t>Banner advertising opportunities and future premium AI analytics for agencies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56032"/>
            <a:ext cx="1133856" cy="274320"/>
          </a:xfrm>
          <a:prstGeom prst="roundRect">
            <a:avLst>
              <a:gd name="adj" fmla="val 20000"/>
            </a:avLst>
          </a:prstGeom>
          <a:solidFill>
            <a:srgbClr val="0EA5A0">
              <a:alpha val="12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A5A0"/>
                </a:solidFill>
              </a:rPr>
              <a:t>Traction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Current Progress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02920" y="1316736"/>
            <a:ext cx="914400" cy="4114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6304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BCD8"/>
                </a:solidFill>
              </a:rPr>
              <a:t>Platform launched February 2026 · Early-stage startup focused on user acquisition and market validation.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2011680"/>
            <a:ext cx="3794760" cy="1938528"/>
          </a:xfrm>
          <a:prstGeom prst="rect">
            <a:avLst>
              <a:gd name="adj" fmla="val 5660"/>
            </a:avLst>
          </a:prstGeom>
          <a:solidFill>
            <a:srgbClr val="1E2D40"/>
          </a:solidFill>
          <a:ln w="12700">
            <a:solidFill>
              <a:srgbClr val="1E3A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2011680"/>
            <a:ext cx="50292" cy="1938528"/>
          </a:xfrm>
          <a:prstGeom prst="rect">
            <a:avLst>
              <a:gd name="adj" fmla="val 54545"/>
            </a:avLst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" y="2194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69848" y="219456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Platform Live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69848" y="260604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8BAFC8"/>
                </a:solidFill>
              </a:rPr>
              <a:t>Functional web platform launched and publicly accessible as of February 2026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97680" y="2011680"/>
            <a:ext cx="3794760" cy="1938528"/>
          </a:xfrm>
          <a:prstGeom prst="rect">
            <a:avLst>
              <a:gd name="adj" fmla="val 5660"/>
            </a:avLst>
          </a:prstGeom>
          <a:solidFill>
            <a:srgbClr val="1E2D40"/>
          </a:solidFill>
          <a:ln w="12700">
            <a:solidFill>
              <a:srgbClr val="1E3A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2011680"/>
            <a:ext cx="50292" cy="1938528"/>
          </a:xfrm>
          <a:prstGeom prst="rect">
            <a:avLst>
              <a:gd name="adj" fmla="val 54545"/>
            </a:avLst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62272" y="2194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047488" y="219456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Multi-Country Support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047488" y="260604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8BAFC8"/>
                </a:solidFill>
              </a:rPr>
              <a:t>Property listings and search active across multiple Western Balkan countries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75320" y="2011680"/>
            <a:ext cx="3794760" cy="1938528"/>
          </a:xfrm>
          <a:prstGeom prst="rect">
            <a:avLst>
              <a:gd name="adj" fmla="val 5660"/>
            </a:avLst>
          </a:prstGeom>
          <a:solidFill>
            <a:srgbClr val="1E2D40"/>
          </a:solidFill>
          <a:ln w="12700">
            <a:solidFill>
              <a:srgbClr val="1E3A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75320" y="2011680"/>
            <a:ext cx="50292" cy="1938528"/>
          </a:xfrm>
          <a:prstGeom prst="rect">
            <a:avLst>
              <a:gd name="adj" fmla="val 54545"/>
            </a:avLst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39912" y="2194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🏢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025128" y="219456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Agency System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025128" y="260604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8BAFC8"/>
                </a:solidFill>
              </a:rPr>
              <a:t>Agency and agent profile system fully built and operational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4297680"/>
            <a:ext cx="3794760" cy="1938528"/>
          </a:xfrm>
          <a:prstGeom prst="rect">
            <a:avLst>
              <a:gd name="adj" fmla="val 5660"/>
            </a:avLst>
          </a:prstGeom>
          <a:solidFill>
            <a:srgbClr val="1E2D40"/>
          </a:solidFill>
          <a:ln w="12700">
            <a:solidFill>
              <a:srgbClr val="1E3A5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4297680"/>
            <a:ext cx="50292" cy="1938528"/>
          </a:xfrm>
          <a:prstGeom prst="rect">
            <a:avLst>
              <a:gd name="adj" fmla="val 54545"/>
            </a:avLst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" y="4480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069848" y="448056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Interactive Map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069848" y="489204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8BAFC8"/>
                </a:solidFill>
              </a:rPr>
              <a:t>Interactive map-based property search implemented and live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297680" y="4297680"/>
            <a:ext cx="3794760" cy="1938528"/>
          </a:xfrm>
          <a:prstGeom prst="rect">
            <a:avLst>
              <a:gd name="adj" fmla="val 5660"/>
            </a:avLst>
          </a:prstGeom>
          <a:solidFill>
            <a:srgbClr val="1E2D40"/>
          </a:solidFill>
          <a:ln w="12700">
            <a:solidFill>
              <a:srgbClr val="1E3A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97680" y="4297680"/>
            <a:ext cx="50292" cy="1938528"/>
          </a:xfrm>
          <a:prstGeom prst="rect">
            <a:avLst>
              <a:gd name="adj" fmla="val 54545"/>
            </a:avLst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2272" y="4480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📣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047488" y="448056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Active Outreach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047488" y="489204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8BAFC8"/>
                </a:solidFill>
              </a:rPr>
              <a:t>Onboarding agencies through direct outreach and social media campaigns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275320" y="4297680"/>
            <a:ext cx="3794760" cy="1938528"/>
          </a:xfrm>
          <a:prstGeom prst="rect">
            <a:avLst>
              <a:gd name="adj" fmla="val 5660"/>
            </a:avLst>
          </a:prstGeom>
          <a:solidFill>
            <a:srgbClr val="1E2D40"/>
          </a:solidFill>
          <a:ln w="12700">
            <a:solidFill>
              <a:srgbClr val="1E3A5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75320" y="4297680"/>
            <a:ext cx="50292" cy="1938528"/>
          </a:xfrm>
          <a:prstGeom prst="rect">
            <a:avLst>
              <a:gd name="adj" fmla="val 54545"/>
            </a:avLst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39912" y="4480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9025128" y="448056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Growing Network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9025128" y="489204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8BAFC8"/>
                </a:solidFill>
              </a:rPr>
              <a:t>Building a network of potential partners and agencies across the Balkans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56032"/>
            <a:ext cx="2382012" cy="274320"/>
          </a:xfrm>
          <a:prstGeom prst="roundRect">
            <a:avLst>
              <a:gd name="adj" fmla="val 20000"/>
            </a:avLst>
          </a:prstGeom>
          <a:solidFill>
            <a:srgbClr val="1A56C4">
              <a:alpha val="12000"/>
            </a:srgbClr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23820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56C4"/>
                </a:solidFill>
              </a:rPr>
              <a:t>Competitive Advantage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</a:rPr>
              <a:t>Why BalkanEstateAI?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005840" cy="4114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087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E85"/>
                </a:solidFill>
              </a:rPr>
              <a:t>We are not another generic listing portal. We are the first AI-first platform built exclusively for the Western Balkans.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0040" y="2148840"/>
            <a:ext cx="2788920" cy="1737360"/>
          </a:xfrm>
          <a:prstGeom prst="rect">
            <a:avLst>
              <a:gd name="adj" fmla="val 6316"/>
            </a:avLst>
          </a:prstGeom>
          <a:solidFill>
            <a:srgbClr val="F4F8FF"/>
          </a:solidFill>
          <a:ln w="12700">
            <a:solidFill>
              <a:srgbClr val="C8D8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2148840"/>
            <a:ext cx="50292" cy="1737360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2313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78408" y="231343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Built for This Region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29768" y="2770632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E85"/>
                </a:solidFill>
              </a:rPr>
              <a:t>Designed specifically for Western Balkans — not adapted from a generic template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64408" y="2148840"/>
            <a:ext cx="2788920" cy="1737360"/>
          </a:xfrm>
          <a:prstGeom prst="rect">
            <a:avLst>
              <a:gd name="adj" fmla="val 6316"/>
            </a:avLst>
          </a:prstGeom>
          <a:solidFill>
            <a:srgbClr val="F4F8FF"/>
          </a:solidFill>
          <a:ln w="12700">
            <a:solidFill>
              <a:srgbClr val="C8D8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2148840"/>
            <a:ext cx="50292" cy="1737360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74136" y="2313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922776" y="231343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AI-First Experience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374136" y="2770632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E85"/>
                </a:solidFill>
              </a:rPr>
              <a:t>Natural language search and intelligent recommendations at the core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08776" y="2148840"/>
            <a:ext cx="2788920" cy="1737360"/>
          </a:xfrm>
          <a:prstGeom prst="rect">
            <a:avLst>
              <a:gd name="adj" fmla="val 6316"/>
            </a:avLst>
          </a:prstGeom>
          <a:solidFill>
            <a:srgbClr val="F4F8FF"/>
          </a:solidFill>
          <a:ln w="12700">
            <a:solidFill>
              <a:srgbClr val="C8D8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08776" y="2148840"/>
            <a:ext cx="50292" cy="1737360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18504" y="2313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67144" y="231343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Multi-Language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318504" y="2770632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E85"/>
                </a:solidFill>
              </a:rPr>
              <a:t>Native language support across all target countries from day one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53144" y="2148840"/>
            <a:ext cx="2788920" cy="1737360"/>
          </a:xfrm>
          <a:prstGeom prst="rect">
            <a:avLst>
              <a:gd name="adj" fmla="val 6316"/>
            </a:avLst>
          </a:prstGeom>
          <a:solidFill>
            <a:srgbClr val="F4F8FF"/>
          </a:solidFill>
          <a:ln w="12700">
            <a:solidFill>
              <a:srgbClr val="C8D8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53144" y="2148840"/>
            <a:ext cx="50292" cy="1737360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62872" y="2313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811512" y="231343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Interactive Maps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262872" y="2770632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E85"/>
                </a:solidFill>
              </a:rPr>
              <a:t>Draw-zone and map-pin search — not just a list of results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4160520"/>
            <a:ext cx="2788920" cy="1737360"/>
          </a:xfrm>
          <a:prstGeom prst="rect">
            <a:avLst>
              <a:gd name="adj" fmla="val 6316"/>
            </a:avLst>
          </a:prstGeom>
          <a:solidFill>
            <a:srgbClr val="F4F8FF"/>
          </a:solidFill>
          <a:ln w="12700">
            <a:solidFill>
              <a:srgbClr val="C8D8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" y="4160520"/>
            <a:ext cx="50292" cy="1737360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9768" y="4325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🏢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978408" y="43251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Agency Tools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29768" y="4782312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E85"/>
                </a:solidFill>
              </a:rPr>
              <a:t>Dedicated tools for agencies — not an afterthought add-on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36592" y="4160520"/>
            <a:ext cx="2788920" cy="1737360"/>
          </a:xfrm>
          <a:prstGeom prst="rect">
            <a:avLst>
              <a:gd name="adj" fmla="val 6316"/>
            </a:avLst>
          </a:prstGeom>
          <a:solidFill>
            <a:srgbClr val="F4F8FF"/>
          </a:solidFill>
          <a:ln w="12700">
            <a:solidFill>
              <a:srgbClr val="C8D8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6592" y="4160520"/>
            <a:ext cx="50292" cy="1737360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4325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🌱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394960" y="43251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Regional Expansion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846320" y="4782312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E85"/>
                </a:solidFill>
              </a:rPr>
              <a:t>Architecture built to scale country by country across all of SEE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53144" y="4160520"/>
            <a:ext cx="2788920" cy="1737360"/>
          </a:xfrm>
          <a:prstGeom prst="rect">
            <a:avLst>
              <a:gd name="adj" fmla="val 6316"/>
            </a:avLst>
          </a:prstGeom>
          <a:solidFill>
            <a:srgbClr val="F4F8FF"/>
          </a:solidFill>
          <a:ln w="12700">
            <a:solidFill>
              <a:srgbClr val="C8D8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53144" y="4160520"/>
            <a:ext cx="50292" cy="1737360"/>
          </a:xfrm>
          <a:prstGeom prst="rect">
            <a:avLst>
              <a:gd name="adj" fmla="val 54545"/>
            </a:avLst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262872" y="4325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✨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11512" y="43251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Modern UX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262872" y="4782312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E85"/>
                </a:solidFill>
              </a:rPr>
              <a:t>Consumer-grade design vs. outdated traditional portals in the region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56032"/>
            <a:ext cx="1133856" cy="274320"/>
          </a:xfrm>
          <a:prstGeom prst="roundRect">
            <a:avLst>
              <a:gd name="adj" fmla="val 20000"/>
            </a:avLst>
          </a:prstGeom>
          <a:solidFill>
            <a:srgbClr val="1A56C4">
              <a:alpha val="12000"/>
            </a:srgbClr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56C4"/>
                </a:solidFill>
              </a:rPr>
              <a:t>The Team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</a:rPr>
              <a:t>Built by a Founder Who Ships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914400" cy="4114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45920" y="1627632"/>
            <a:ext cx="8869680" cy="4114800"/>
          </a:xfrm>
          <a:prstGeom prst="rect">
            <a:avLst>
              <a:gd name="adj" fmla="val 2667"/>
            </a:avLst>
          </a:prstGeom>
          <a:solidFill>
            <a:srgbClr val="F6F9FF"/>
          </a:solidFill>
          <a:ln w="12700">
            <a:solidFill>
              <a:srgbClr val="C0D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94560" y="1993392"/>
            <a:ext cx="1737360" cy="1737360"/>
          </a:xfrm>
          <a:prstGeom prst="ellipse">
            <a:avLst/>
          </a:prstGeom>
          <a:ln w="12700">
            <a:solidFill>
              <a:srgbClr val="1A56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1993392"/>
            <a:ext cx="1737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V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160520" y="2029968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B2A"/>
                </a:solidFill>
              </a:rPr>
              <a:t>Valdet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160520" y="2651760"/>
            <a:ext cx="5943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56C4"/>
                </a:solidFill>
              </a:rPr>
              <a:t>Founder · BalkanEstateAI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160520" y="3218688"/>
            <a:ext cx="5989320" cy="420624"/>
          </a:xfrm>
          <a:prstGeom prst="roundRect">
            <a:avLst>
              <a:gd name="adj" fmla="val 15217"/>
            </a:avLst>
          </a:prstGeom>
          <a:solidFill>
            <a:srgbClr val="EBF2FF"/>
          </a:solidFill>
          <a:ln w="12700">
            <a:solidFill>
              <a:srgbClr val="C0D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51960" y="3236976"/>
            <a:ext cx="5806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C4"/>
                </a:solidFill>
              </a:rPr>
              <a:t>✓  Android Developer &amp; Software Engineer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60520" y="3749040"/>
            <a:ext cx="5989320" cy="420624"/>
          </a:xfrm>
          <a:prstGeom prst="roundRect">
            <a:avLst>
              <a:gd name="adj" fmla="val 15217"/>
            </a:avLst>
          </a:prstGeom>
          <a:solidFill>
            <a:srgbClr val="EBF2FF"/>
          </a:solidFill>
          <a:ln w="12700">
            <a:solidFill>
              <a:srgbClr val="C0D4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51960" y="3767328"/>
            <a:ext cx="5806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C4"/>
                </a:solidFill>
              </a:rPr>
              <a:t>✓  Mobile Architecture &amp; AI Integrations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60520" y="4279392"/>
            <a:ext cx="5989320" cy="420624"/>
          </a:xfrm>
          <a:prstGeom prst="roundRect">
            <a:avLst>
              <a:gd name="adj" fmla="val 15217"/>
            </a:avLst>
          </a:prstGeom>
          <a:solidFill>
            <a:srgbClr val="EBF2FF"/>
          </a:solidFill>
          <a:ln w="12700">
            <a:solidFill>
              <a:srgbClr val="C0D4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51960" y="4297680"/>
            <a:ext cx="5806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C4"/>
                </a:solidFill>
              </a:rPr>
              <a:t>✓  Product Development &amp; UX Design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60520" y="4809744"/>
            <a:ext cx="5989320" cy="420624"/>
          </a:xfrm>
          <a:prstGeom prst="roundRect">
            <a:avLst>
              <a:gd name="adj" fmla="val 15217"/>
            </a:avLst>
          </a:prstGeom>
          <a:solidFill>
            <a:srgbClr val="EBF2FF"/>
          </a:solidFill>
          <a:ln w="12700">
            <a:solidFill>
              <a:srgbClr val="C0D4F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51960" y="4828032"/>
            <a:ext cx="5806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C4"/>
                </a:solidFill>
              </a:rPr>
              <a:t>✓  Western Balkans Domain Expertise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920240" y="402336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5A6E85"/>
                </a:solidFill>
              </a:rPr>
              <a:t>Building BalkanEstateAI from the ground up — solving real estate discovery challenges across the Balkan region.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645920" y="5897880"/>
            <a:ext cx="8869680" cy="594360"/>
          </a:xfrm>
          <a:prstGeom prst="rect">
            <a:avLst>
              <a:gd name="adj" fmla="val 12308"/>
            </a:avLst>
          </a:prstGeom>
          <a:solidFill>
            <a:srgbClr val="EEF4FF"/>
          </a:solidFill>
          <a:ln w="12700">
            <a:solidFill>
              <a:srgbClr val="C0D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737360" y="5925312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D1B2A"/>
                </a:solidFill>
              </a:rPr>
              <a:t>Currently seeking strategic partners, mentors, and investors to accelerate growth.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 w="12700">
            <a:solidFill>
              <a:srgbClr val="0810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56032"/>
            <a:ext cx="1517904" cy="274320"/>
          </a:xfrm>
          <a:prstGeom prst="roundRect">
            <a:avLst>
              <a:gd name="adj" fmla="val 20000"/>
            </a:avLst>
          </a:prstGeom>
          <a:solidFill>
            <a:srgbClr val="0EA5A0">
              <a:alpha val="12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A5A0"/>
                </a:solidFill>
              </a:rPr>
              <a:t>Vision &amp; Ask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Become the Leading AI-Powered</a:t>
            </a:r>
            <a:endParaRPr lang="en-US" sz="3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Real Estate Platform in the</a:t>
            </a:r>
            <a:endParaRPr lang="en-US" sz="3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Western Balkans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1097280" cy="4114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72491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A0"/>
                </a:solidFill>
              </a:rPr>
              <a:t>What We Need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218688"/>
            <a:ext cx="5029200" cy="585216"/>
          </a:xfrm>
          <a:prstGeom prst="roundRect">
            <a:avLst>
              <a:gd name="adj" fmla="val 12500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3255264"/>
            <a:ext cx="4709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A5A0"/>
                </a:solidFill>
              </a:rPr>
              <a:t>🧭  Strategic Mentorship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511296"/>
            <a:ext cx="4709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FC8"/>
                </a:solidFill>
              </a:rPr>
              <a:t>Guidance on scaling, fundraising, and market entry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5029200" cy="585216"/>
          </a:xfrm>
          <a:prstGeom prst="roundRect">
            <a:avLst>
              <a:gd name="adj" fmla="val 12500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950208"/>
            <a:ext cx="4709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A5A0"/>
                </a:solidFill>
              </a:rPr>
              <a:t>🤝  Industry Partnerships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8368" y="4206240"/>
            <a:ext cx="4709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FC8"/>
                </a:solidFill>
              </a:rPr>
              <a:t>Agencies, developers, and real estate bodies across SEE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4608576"/>
            <a:ext cx="5029200" cy="585216"/>
          </a:xfrm>
          <a:prstGeom prst="roundRect">
            <a:avLst>
              <a:gd name="adj" fmla="val 12500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645152"/>
            <a:ext cx="4709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A5A0"/>
                </a:solidFill>
              </a:rPr>
              <a:t>📣  Marketing Support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" y="4901184"/>
            <a:ext cx="4709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FC8"/>
                </a:solidFill>
              </a:rPr>
              <a:t>Help building brand awareness and growing user base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5303520"/>
            <a:ext cx="5029200" cy="585216"/>
          </a:xfrm>
          <a:prstGeom prst="roundRect">
            <a:avLst>
              <a:gd name="adj" fmla="val 12500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5340096"/>
            <a:ext cx="4709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A5A0"/>
                </a:solidFill>
              </a:rPr>
              <a:t>💰  Early-Stage Investment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" y="5596128"/>
            <a:ext cx="4709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FC8"/>
                </a:solidFill>
              </a:rPr>
              <a:t>To accelerate product, team, and regional expansion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5998464"/>
            <a:ext cx="5029200" cy="585216"/>
          </a:xfrm>
          <a:prstGeom prst="roundRect">
            <a:avLst>
              <a:gd name="adj" fmla="val 12500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6035040"/>
            <a:ext cx="4709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A5A0"/>
                </a:solidFill>
              </a:rPr>
              <a:t>🌐  Regional Networks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8368" y="6291072"/>
            <a:ext cx="4709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FC8"/>
                </a:solidFill>
              </a:rPr>
              <a:t>Access to key contacts across Balkan real estate markets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578608"/>
            <a:ext cx="5806440" cy="3931920"/>
          </a:xfrm>
          <a:prstGeom prst="rect">
            <a:avLst>
              <a:gd name="adj" fmla="val 3256"/>
            </a:avLst>
          </a:prstGeom>
          <a:solidFill>
            <a:srgbClr val="0A1A2E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274320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i="1" dirty="0">
                <a:solidFill>
                  <a:srgbClr val="8EB4D8"/>
                </a:solidFill>
              </a:rPr>
              <a:t>We are building the infrastructure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i="1" dirty="0">
                <a:solidFill>
                  <a:srgbClr val="8EB4D8"/>
                </a:solidFill>
              </a:rPr>
              <a:t>for the next generation of real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i="1" dirty="0">
                <a:solidFill>
                  <a:srgbClr val="8EB4D8"/>
                </a:solidFill>
              </a:rPr>
              <a:t>estate discovery in the Balkans.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0" y="416052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967728" y="417880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Regional Platform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67728" y="445312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88AA"/>
                </a:solidFill>
              </a:rPr>
              <a:t>11 countries, 1 unified experience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00800" y="496519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967728" y="49834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AI at the Core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67728" y="525780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88AA"/>
                </a:solidFill>
              </a:rPr>
              <a:t>Smarter search, better matches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0" y="5769864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967728" y="5788152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Built to Scale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67728" y="6062472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88AA"/>
                </a:solidFill>
              </a:rPr>
              <a:t>From MVP to market leader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65760" y="6419088"/>
            <a:ext cx="11457432" cy="256032"/>
          </a:xfrm>
          <a:prstGeom prst="rect">
            <a:avLst>
              <a:gd name="adj" fmla="val 17857"/>
            </a:avLst>
          </a:prstGeom>
          <a:ln w="12700">
            <a:solidFill>
              <a:srgbClr val="1A56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6419088"/>
            <a:ext cx="11457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BalkanEstateAI.com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2026-05-31T16:27:40Z</dcterms:created>
  <dcterms:modified xsi:type="dcterms:W3CDTF">2026-05-31T16:27:40Z</dcterms:modified>
</cp:coreProperties>
</file>